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54864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1. Duración 5s.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2. Duración 7s.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3. Duración 8s.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4. Duración 7s.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5. Duración 8s.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01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8746A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32688"/>
            <a:ext cx="4754880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C211A"/>
                </a:solidFill>
                <a:latin typeface="League Spartan"/>
              </a:defRPr>
            </a:pPr>
            <a:r>
              <a:t>¿Buscando casa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C211A"/>
                </a:solidFill>
                <a:latin typeface="League Spartan"/>
              </a:defRPr>
            </a:pPr>
            <a:r>
              <a:t>o roomie?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468880"/>
            <a:ext cx="4343400" cy="347472"/>
          </a:xfrm>
          <a:prstGeom prst="roundRect">
            <a:avLst>
              <a:gd name="adj" fmla="val 13000"/>
            </a:avLst>
          </a:prstGeom>
          <a:solidFill>
            <a:srgbClr val="477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51176"/>
            <a:ext cx="4197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ENCUENTRA TU ESPACIO EN IXMIQUILPAN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3355848"/>
            <a:ext cx="2578608" cy="5138928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" y="3264408"/>
            <a:ext cx="2468880" cy="5074920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dex-clipboard-751b6647-d926-449b-8269-0a70ac4b94d2.png"/>
          <p:cNvPicPr>
            <a:picLocks noChangeAspect="1"/>
          </p:cNvPicPr>
          <p:nvPr/>
        </p:nvPicPr>
        <p:blipFill>
          <a:blip r:embed="rId3"/>
          <a:srcRect l="48463" t="6476" r="625" b="40127"/>
          <a:stretch>
            <a:fillRect/>
          </a:stretch>
        </p:blipFill>
        <p:spPr>
          <a:xfrm>
            <a:off x="612647" y="3346703"/>
            <a:ext cx="2322576" cy="49103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3374136"/>
            <a:ext cx="2267712" cy="521207"/>
          </a:xfrm>
          <a:prstGeom prst="roundRect">
            <a:avLst>
              <a:gd name="adj" fmla="val 13000"/>
            </a:avLst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51129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C211A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41063"/>
            <a:ext cx="2267712" cy="1837943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78808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League Spartan"/>
              </a:defRPr>
            </a:pPr>
            <a:r>
              <a:t>Encuentra tu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League Spartan"/>
              </a:defRPr>
            </a:pPr>
            <a:r>
              <a:t>próximo espacio 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League Spartan"/>
              </a:defRPr>
            </a:pPr>
            <a:r>
              <a:t>Ixmiquilpan.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24865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Casas, rentas y hospedaje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sin intermediarios.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6080760"/>
            <a:ext cx="2121408" cy="1005840"/>
          </a:xfrm>
          <a:prstGeom prst="roundRect">
            <a:avLst>
              <a:gd name="adj" fmla="val 13000"/>
            </a:avLst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6245352"/>
            <a:ext cx="184708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Inter"/>
              </a:defRPr>
            </a:pPr>
            <a:r>
              <a:t>¿Qué buscas?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Inter"/>
              </a:defRPr>
            </a:pPr>
            <a:r>
              <a:t>Zona · Ixmiquilpan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7744967"/>
            <a:ext cx="2048256" cy="347472"/>
          </a:xfrm>
          <a:prstGeom prst="roundRect">
            <a:avLst>
              <a:gd name="adj" fmla="val 13000"/>
            </a:avLst>
          </a:prstGeom>
          <a:solidFill>
            <a:srgbClr val="477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7827263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Buscar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361688"/>
            <a:ext cx="2194560" cy="1380744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16936" y="4270248"/>
            <a:ext cx="2121408" cy="1335024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dex-clipboard-751b6647-d926-449b-8269-0a70ac4b94d2.png"/>
          <p:cNvPicPr>
            <a:picLocks noChangeAspect="1"/>
          </p:cNvPicPr>
          <p:nvPr/>
        </p:nvPicPr>
        <p:blipFill>
          <a:blip r:embed="rId3"/>
          <a:srcRect t="6476" r="365" b="40021"/>
          <a:stretch>
            <a:fillRect/>
          </a:stretch>
        </p:blipFill>
        <p:spPr>
          <a:xfrm>
            <a:off x="3008376" y="4389120"/>
            <a:ext cx="1938527" cy="108813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734056" y="5586984"/>
            <a:ext cx="2487168" cy="137160"/>
          </a:xfrm>
          <a:prstGeom prst="roundRect">
            <a:avLst>
              <a:gd name="adj" fmla="val 13000"/>
            </a:avLst>
          </a:prstGeom>
          <a:solidFill>
            <a:srgbClr val="BBC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91256" y="6016752"/>
            <a:ext cx="1627632" cy="1508760"/>
          </a:xfrm>
          <a:prstGeom prst="roundRect">
            <a:avLst>
              <a:gd name="adj" fmla="val 13000"/>
            </a:avLst>
          </a:prstGeom>
          <a:solidFill>
            <a:srgbClr val="26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6373368"/>
            <a:ext cx="12618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4B66E"/>
                </a:solidFill>
                <a:latin typeface="League Spartan"/>
              </a:defRPr>
            </a:pPr>
            <a:r>
              <a:t>Tu comunidad.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4B66E"/>
                </a:solidFill>
                <a:latin typeface="League Spartan"/>
              </a:defRPr>
            </a:pPr>
            <a:r>
              <a:t>Tu hogar.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7882127"/>
            <a:ext cx="1938528" cy="347472"/>
          </a:xfrm>
          <a:prstGeom prst="roundRect">
            <a:avLst>
              <a:gd name="adj" fmla="val 13000"/>
            </a:avLst>
          </a:prstGeom>
          <a:solidFill>
            <a:srgbClr val="7E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2" y="7964423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C211A"/>
                </a:solidFill>
                <a:latin typeface="Inter"/>
              </a:defRPr>
            </a:pPr>
            <a:r>
              <a:t>CLARO ↔ OSCURO</a:t>
            </a:r>
          </a:p>
        </p:txBody>
      </p:sp>
    </p:spTree>
  </p:cSld>
  <p:clrMapOvr>
    <a:masterClrMapping/>
  </p:clrMapOvr>
  <p:transition advClick="0" advTm="5000">
    <p:cu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3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8746A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50976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League Spartan"/>
              </a:defRPr>
            </a:pPr>
            <a:r>
              <a:t>Filtros reales.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League Spartan"/>
              </a:defRPr>
            </a:pPr>
            <a:r>
              <a:t>Mapas exactos.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523744"/>
            <a:ext cx="1188720" cy="347472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39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Inter"/>
              </a:defRPr>
            </a:pPr>
            <a:r>
              <a:t>RENTA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2523744"/>
            <a:ext cx="1188720" cy="347472"/>
          </a:xfrm>
          <a:prstGeom prst="roundRect">
            <a:avLst>
              <a:gd name="adj" fmla="val 13000"/>
            </a:avLst>
          </a:prstGeom>
          <a:solidFill>
            <a:srgbClr val="7E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2224" y="2606039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Inter"/>
              </a:defRPr>
            </a:pPr>
            <a:r>
              <a:t>VENTA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310128"/>
            <a:ext cx="4608576" cy="2048255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" y="3218688"/>
            <a:ext cx="4535424" cy="2002536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dex-clipboard-20eb3f1e-2b73-45ce-96d4-257bbac76613.png"/>
          <p:cNvPicPr>
            <a:picLocks noChangeAspect="1"/>
          </p:cNvPicPr>
          <p:nvPr/>
        </p:nvPicPr>
        <p:blipFill>
          <a:blip r:embed="rId3"/>
          <a:srcRect l="1980" t="17932" r="2345" b="11287"/>
          <a:stretch>
            <a:fillRect/>
          </a:stretch>
        </p:blipFill>
        <p:spPr>
          <a:xfrm>
            <a:off x="566928" y="3337560"/>
            <a:ext cx="4352544" cy="17556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92608" y="5202936"/>
            <a:ext cx="4901184" cy="137160"/>
          </a:xfrm>
          <a:prstGeom prst="roundRect">
            <a:avLst>
              <a:gd name="adj" fmla="val 13000"/>
            </a:avLst>
          </a:prstGeom>
          <a:solidFill>
            <a:srgbClr val="BBC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8104" y="5678424"/>
            <a:ext cx="1856231" cy="2971800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72968" y="5586984"/>
            <a:ext cx="1746504" cy="2898648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dex-clipboard-d1ac2ad3-768f-472e-8831-24d354bf4697.png"/>
          <p:cNvPicPr>
            <a:picLocks noChangeAspect="1"/>
          </p:cNvPicPr>
          <p:nvPr/>
        </p:nvPicPr>
        <p:blipFill>
          <a:blip r:embed="rId4"/>
          <a:srcRect l="2032" t="9236" r="74779" b="44055"/>
          <a:stretch>
            <a:fillRect/>
          </a:stretch>
        </p:blipFill>
        <p:spPr>
          <a:xfrm>
            <a:off x="3255264" y="5678424"/>
            <a:ext cx="1581912" cy="27157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5879592"/>
            <a:ext cx="2578608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League Spartan"/>
              </a:defRPr>
            </a:pPr>
            <a:r>
              <a:t>Viviendas,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League Spartan"/>
              </a:defRPr>
            </a:pPr>
            <a:r>
              <a:t>locales y roomies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League Spartan"/>
              </a:defRPr>
            </a:pPr>
            <a:r>
              <a:t>en un solo lugar.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7882127"/>
            <a:ext cx="2532888" cy="347472"/>
          </a:xfrm>
          <a:prstGeom prst="roundRect">
            <a:avLst>
              <a:gd name="adj" fmla="val 13000"/>
            </a:avLst>
          </a:prstGeom>
          <a:solidFill>
            <a:srgbClr val="477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7964423"/>
            <a:ext cx="23865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EXPLORA EL MAPA</a:t>
            </a:r>
          </a:p>
        </p:txBody>
      </p:sp>
    </p:spTree>
  </p:cSld>
  <p:clrMapOvr>
    <a:masterClrMapping/>
  </p:clrMapOvr>
  <p:transition advClick="0" advTm="7000">
    <p:cut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8746A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50976"/>
            <a:ext cx="4754880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C211A"/>
                </a:solidFill>
                <a:latin typeface="League Spartan"/>
              </a:defRPr>
            </a:pPr>
            <a:r>
              <a:t>Contacto directo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C211A"/>
                </a:solidFill>
                <a:latin typeface="League Spartan"/>
              </a:defRPr>
            </a:pPr>
            <a:r>
              <a:t>por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23160"/>
            <a:ext cx="47548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77450"/>
                </a:solidFill>
                <a:latin typeface="League Spartan"/>
              </a:defRPr>
            </a:pPr>
            <a:r>
              <a:t>+ Guías imprimibles.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310128"/>
            <a:ext cx="4718304" cy="12252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dex-clipboard-67df62bc-b9d1-431c-b4aa-69d4ed20a261.png"/>
          <p:cNvPicPr>
            <a:picLocks noChangeAspect="1"/>
          </p:cNvPicPr>
          <p:nvPr/>
        </p:nvPicPr>
        <p:blipFill>
          <a:blip r:embed="rId3"/>
          <a:srcRect l="58446" t="14650" r="26955" b="69958"/>
          <a:stretch>
            <a:fillRect/>
          </a:stretch>
        </p:blipFill>
        <p:spPr>
          <a:xfrm>
            <a:off x="530352" y="3419856"/>
            <a:ext cx="4425696" cy="9509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8056" y="4974336"/>
            <a:ext cx="2185416" cy="3108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175504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77450"/>
                </a:solidFill>
                <a:latin typeface="Inter"/>
              </a:defRPr>
            </a:pPr>
            <a:r>
              <a:t>GUÍA IXMIPLACE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623560"/>
            <a:ext cx="181965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C211A"/>
                </a:solidFill>
                <a:latin typeface="League Spartan"/>
              </a:defRPr>
            </a:pPr>
            <a:r>
              <a:t>Lista para revisar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C211A"/>
                </a:solidFill>
                <a:latin typeface="League Spartan"/>
              </a:defRPr>
            </a:pPr>
            <a:r>
              <a:t>antes de decidir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629400"/>
            <a:ext cx="100584" cy="100584"/>
          </a:xfrm>
          <a:prstGeom prst="rect">
            <a:avLst/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659282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C211A"/>
                </a:solidFill>
                <a:latin typeface="Inter"/>
              </a:defRPr>
            </a:pPr>
            <a:r>
              <a:t>Costos y requisitos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885432"/>
            <a:ext cx="100584" cy="100584"/>
          </a:xfrm>
          <a:prstGeom prst="rect">
            <a:avLst/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684885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C211A"/>
                </a:solidFill>
                <a:latin typeface="Inter"/>
              </a:defRPr>
            </a:pPr>
            <a:r>
              <a:t>Estado del inmueble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141464"/>
            <a:ext cx="100584" cy="100584"/>
          </a:xfrm>
          <a:prstGeom prst="rect">
            <a:avLst/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710488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C211A"/>
                </a:solidFill>
                <a:latin typeface="Inter"/>
              </a:defRPr>
            </a:pPr>
            <a:r>
              <a:t>Servicios incluidos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7397496"/>
            <a:ext cx="100584" cy="100584"/>
          </a:xfrm>
          <a:prstGeom prst="rect">
            <a:avLst/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736092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C211A"/>
                </a:solidFill>
                <a:latin typeface="Inter"/>
              </a:defRPr>
            </a:pPr>
            <a:r>
              <a:t>Visita y ubicación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5257800"/>
            <a:ext cx="2176272" cy="2450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dex-clipboard-b4b49a80-7168-4b6e-8fcf-8ba837d67ac5.png"/>
          <p:cNvPicPr>
            <a:picLocks noChangeAspect="1"/>
          </p:cNvPicPr>
          <p:nvPr/>
        </p:nvPicPr>
        <p:blipFill>
          <a:blip r:embed="rId4"/>
          <a:srcRect l="5019" t="13801" r="5019" b="59298"/>
          <a:stretch>
            <a:fillRect/>
          </a:stretch>
        </p:blipFill>
        <p:spPr>
          <a:xfrm>
            <a:off x="3017520" y="5404104"/>
            <a:ext cx="1901952" cy="138074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017520" y="7196328"/>
            <a:ext cx="1901952" cy="347472"/>
          </a:xfrm>
          <a:prstGeom prst="roundRect">
            <a:avLst>
              <a:gd name="adj" fmla="val 13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7278624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477450"/>
                </a:solidFill>
                <a:latin typeface="Inter"/>
              </a:defRPr>
            </a:pPr>
            <a:r>
              <a:t>COMPROBANTE DE VISITA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8385048"/>
            <a:ext cx="1335024" cy="347472"/>
          </a:xfrm>
          <a:prstGeom prst="roundRect">
            <a:avLst>
              <a:gd name="adj" fmla="val 13000"/>
            </a:avLst>
          </a:prstGeom>
          <a:solidFill>
            <a:srgbClr val="477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846734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Español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56231" y="8385048"/>
            <a:ext cx="1335024" cy="347472"/>
          </a:xfrm>
          <a:prstGeom prst="roundRect">
            <a:avLst>
              <a:gd name="adj" fmla="val 13000"/>
            </a:avLst>
          </a:prstGeom>
          <a:solidFill>
            <a:srgbClr val="7E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9384" y="846734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C211A"/>
                </a:solidFill>
                <a:latin typeface="Inter"/>
              </a:defRPr>
            </a:pPr>
            <a:r>
              <a:t>English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8416" y="8385048"/>
            <a:ext cx="1481328" cy="347472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8467344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C211A"/>
                </a:solidFill>
                <a:latin typeface="Inter"/>
              </a:defRPr>
            </a:pPr>
            <a:r>
              <a:t>Hñähñu</a:t>
            </a:r>
          </a:p>
        </p:txBody>
      </p:sp>
    </p:spTree>
  </p:cSld>
  <p:clrMapOvr>
    <a:masterClrMapping/>
  </p:clrMapOvr>
  <p:transition advClick="0" advTm="8000">
    <p:cut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3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8746A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50976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League Spartan"/>
              </a:defRPr>
            </a:pPr>
            <a:r>
              <a:t>Promociona tu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League Spartan"/>
              </a:defRPr>
            </a:pPr>
            <a:r>
              <a:t>negocio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50592"/>
            <a:ext cx="475488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4B66E"/>
                </a:solidFill>
                <a:latin typeface="League Spartan"/>
              </a:defRPr>
            </a:pPr>
            <a:r>
              <a:t>desde $99/mes.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419856"/>
            <a:ext cx="2395728" cy="4498848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" y="3328416"/>
            <a:ext cx="2286000" cy="4425696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dex-clipboard-6b554ee0-a0cb-4165-9b6b-89e4b1fa04fa.png"/>
          <p:cNvPicPr>
            <a:picLocks noChangeAspect="1"/>
          </p:cNvPicPr>
          <p:nvPr/>
        </p:nvPicPr>
        <p:blipFill>
          <a:blip r:embed="rId3"/>
          <a:srcRect l="3133" t="6770" r="4178" b="38242"/>
          <a:stretch>
            <a:fillRect/>
          </a:stretch>
        </p:blipFill>
        <p:spPr>
          <a:xfrm>
            <a:off x="548640" y="3419856"/>
            <a:ext cx="2121408" cy="42428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108960" y="3502152"/>
            <a:ext cx="1911095" cy="1207008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3739896"/>
            <a:ext cx="1600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C211A"/>
                </a:solidFill>
                <a:latin typeface="League Spartan"/>
              </a:defRPr>
            </a:pPr>
            <a:r>
              <a:t>$99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433425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C211A"/>
                </a:solidFill>
                <a:latin typeface="Inter"/>
              </a:defRPr>
            </a:pPr>
            <a:r>
              <a:t>MXN / 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937760"/>
            <a:ext cx="1911095" cy="1207008"/>
          </a:xfrm>
          <a:prstGeom prst="roundRect">
            <a:avLst>
              <a:gd name="adj" fmla="val 13000"/>
            </a:avLst>
          </a:prstGeom>
          <a:solidFill>
            <a:srgbClr val="7EA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5175504"/>
            <a:ext cx="1600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C211A"/>
                </a:solidFill>
                <a:latin typeface="League Spartan"/>
              </a:defRPr>
            </a:pPr>
            <a:r>
              <a:t>$199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5769864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C211A"/>
                </a:solidFill>
                <a:latin typeface="Inter"/>
              </a:defRPr>
            </a:pPr>
            <a:r>
              <a:t>MXN / 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6373368"/>
            <a:ext cx="1911095" cy="1207008"/>
          </a:xfrm>
          <a:prstGeom prst="roundRect">
            <a:avLst>
              <a:gd name="adj" fmla="val 13000"/>
            </a:avLst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6611112"/>
            <a:ext cx="1600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C211A"/>
                </a:solidFill>
                <a:latin typeface="League Spartan"/>
              </a:defRPr>
            </a:pPr>
            <a:r>
              <a:t>$349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720547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C211A"/>
                </a:solidFill>
                <a:latin typeface="Inter"/>
              </a:defRPr>
            </a:pPr>
            <a:r>
              <a:t>MXN / 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8055864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League Spartan"/>
              </a:defRPr>
            </a:pPr>
            <a:r>
              <a:t>Métricas en tiempo real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League Spartan"/>
              </a:defRPr>
            </a:pPr>
            <a:r>
              <a:t>y soporte directo.</a:t>
            </a:r>
          </a:p>
        </p:txBody>
      </p:sp>
    </p:spTree>
  </p:cSld>
  <p:clrMapOvr>
    <a:masterClrMapping/>
  </p:clrMapOvr>
  <p:transition advClick="0" advTm="7000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E4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C211A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05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8746A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746A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50976"/>
            <a:ext cx="4754880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C211A"/>
                </a:solidFill>
                <a:latin typeface="League Spartan"/>
              </a:defRPr>
            </a:pPr>
            <a:r>
              <a:t>¡Todo 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C211A"/>
                </a:solidFill>
                <a:latin typeface="League Spartan"/>
              </a:defRPr>
            </a:pPr>
            <a:r>
              <a:t>IxmiPlace!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18688"/>
            <a:ext cx="4562856" cy="1984248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3127248"/>
            <a:ext cx="4489704" cy="1938528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dex-clipboard-751b6647-d926-449b-8269-0a70ac4b94d2.png"/>
          <p:cNvPicPr>
            <a:picLocks noChangeAspect="1"/>
          </p:cNvPicPr>
          <p:nvPr/>
        </p:nvPicPr>
        <p:blipFill>
          <a:blip r:embed="rId3"/>
          <a:srcRect t="6476" r="365" b="40021"/>
          <a:stretch>
            <a:fillRect/>
          </a:stretch>
        </p:blipFill>
        <p:spPr>
          <a:xfrm>
            <a:off x="585216" y="3246120"/>
            <a:ext cx="4306824" cy="1691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10896" y="5047488"/>
            <a:ext cx="4855464" cy="137160"/>
          </a:xfrm>
          <a:prstGeom prst="roundRect">
            <a:avLst>
              <a:gd name="adj" fmla="val 13000"/>
            </a:avLst>
          </a:prstGeom>
          <a:solidFill>
            <a:srgbClr val="BBC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40" y="5074920"/>
            <a:ext cx="1956816" cy="3008376"/>
          </a:xfrm>
          <a:prstGeom prst="roundRect">
            <a:avLst>
              <a:gd name="adj" fmla="val 13000"/>
            </a:avLst>
          </a:prstGeom>
          <a:solidFill>
            <a:srgbClr val="D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18104" y="4983480"/>
            <a:ext cx="1847088" cy="2935224"/>
          </a:xfrm>
          <a:prstGeom prst="roundRect">
            <a:avLst>
              <a:gd name="adj" fmla="val 13000"/>
            </a:avLst>
          </a:prstGeom>
          <a:solidFill>
            <a:srgbClr val="1C2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dex-clipboard-6b554ee0-a0cb-4165-9b6b-89e4b1fa04fa.png"/>
          <p:cNvPicPr>
            <a:picLocks noChangeAspect="1"/>
          </p:cNvPicPr>
          <p:nvPr/>
        </p:nvPicPr>
        <p:blipFill>
          <a:blip r:embed="rId4"/>
          <a:srcRect l="3133" t="6770" r="4178" b="38242"/>
          <a:stretch>
            <a:fillRect/>
          </a:stretch>
        </p:blipFill>
        <p:spPr>
          <a:xfrm>
            <a:off x="3200400" y="5074920"/>
            <a:ext cx="1682496" cy="2752344"/>
          </a:xfrm>
          <a:prstGeom prst="rect">
            <a:avLst/>
          </a:prstGeom>
        </p:spPr>
      </p:pic>
      <p:pic>
        <p:nvPicPr>
          <p:cNvPr id="16" name="Picture 15" descr="logo-ixmipl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559552"/>
            <a:ext cx="1892807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2336" y="815644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8746A"/>
                </a:solidFill>
                <a:latin typeface="Inter"/>
              </a:defRPr>
            </a:pPr>
            <a:r>
              <a:t>Entra ya: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8138160"/>
            <a:ext cx="37673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11A"/>
                </a:solidFill>
                <a:latin typeface="League Spartan"/>
              </a:defRPr>
            </a:pPr>
            <a:r>
              <a:t>ixmiplace.vercel.app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" y="8631936"/>
            <a:ext cx="4681728" cy="429768"/>
          </a:xfrm>
          <a:prstGeom prst="roundRect">
            <a:avLst>
              <a:gd name="adj" fmla="val 13000"/>
            </a:avLst>
          </a:prstGeom>
          <a:solidFill>
            <a:srgbClr val="477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8741664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EXPLORAR AHORA  →</a:t>
            </a:r>
          </a:p>
        </p:txBody>
      </p:sp>
    </p:spTree>
  </p:cSld>
  <p:clrMapOvr>
    <a:masterClrMapping/>
  </p:clrMapOvr>
  <p:transition advClick="0" advTm="8000"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IxmiPlace | Video 35s | Identidad original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